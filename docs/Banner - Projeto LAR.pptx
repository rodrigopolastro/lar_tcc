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6"/>
  </p:notesMasterIdLst>
  <p:sldIdLst>
    <p:sldId id="256" r:id="rId5"/>
  </p:sldIdLst>
  <p:sldSz cx="25203150" cy="36004500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69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6224" autoAdjust="0"/>
    <p:restoredTop sz="90706" autoAdjust="0"/>
  </p:normalViewPr>
  <p:slideViewPr>
    <p:cSldViewPr>
      <p:cViewPr varScale="1">
        <p:scale>
          <a:sx n="16" d="100"/>
          <a:sy n="16" d="100"/>
        </p:scale>
        <p:origin x="3019" y="67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8887DFD5-0BEA-E179-8C75-542E333EE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1" name="AutoShape 2">
            <a:extLst>
              <a:ext uri="{FF2B5EF4-FFF2-40B4-BE49-F238E27FC236}">
                <a16:creationId xmlns:a16="http://schemas.microsoft.com/office/drawing/2014/main" id="{52530A23-86F9-5538-2141-0D8BA59B5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E90C9F6C-2421-D306-82E9-5ECA58DC374D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-10271125" y="-11796713"/>
            <a:ext cx="8740775" cy="1248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1B7D18F-4874-400A-B837-03A36026AC3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00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B0F8DB0A-6BA2-85D4-7904-C4B0844FA0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2228850" y="695325"/>
            <a:ext cx="24003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F0D4037C-DB1D-B055-EB13-2BFC4960E38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3225" cy="411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90714" y="11184432"/>
            <a:ext cx="21421725" cy="7717177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779839" y="20401862"/>
            <a:ext cx="17643475" cy="9201556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CDF69-B3EE-1C57-2768-87C78014031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E5743F-582F-4BBC-92D4-0B38B27301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430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FC93C5-8D7A-4EA5-AAF3-2D776B10DA8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B861EA-4379-404F-8BE2-E80018E8A5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961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90726" y="23135658"/>
            <a:ext cx="21423313" cy="71520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990726" y="15259723"/>
            <a:ext cx="21423313" cy="787593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079CEB-C701-2DCE-6701-6F6DCE8C4D9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339CF7-21C5-4658-80B7-1FFD91BAEF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313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60476" y="8401421"/>
            <a:ext cx="11261725" cy="281666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674601" y="8401421"/>
            <a:ext cx="11263313" cy="281666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9C6650-477E-5DF9-B587-D9C428A62D2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FCAAA8-C789-471A-B0CE-705FE965A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551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0475" y="1441513"/>
            <a:ext cx="22682200" cy="6001015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60476" y="8060093"/>
            <a:ext cx="11134725" cy="33577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60476" y="11417804"/>
            <a:ext cx="11134725" cy="207447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2803189" y="8060093"/>
            <a:ext cx="11139487" cy="33577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2803189" y="11417804"/>
            <a:ext cx="11139487" cy="207447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2AFD36E-B10B-0682-2C02-789B2BC4ACA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DA17D-67F9-4185-9DF4-7357193470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008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7D66A4-70EB-78AD-AAE2-1DE1C289D8F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820470-883F-4325-916B-8A24D1058A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072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04C5E2B-CFCC-955C-89D3-BD7930328B6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3858B8-6DCC-4163-A66C-F459919851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9811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0476" y="1433576"/>
            <a:ext cx="8291513" cy="61010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853613" y="1433576"/>
            <a:ext cx="14089062" cy="307290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60476" y="7534607"/>
            <a:ext cx="8291513" cy="246279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B89D29-0B10-44C7-CD90-35A89938D34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7AFDD-D11B-455F-80C0-AFF1F4837C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75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40300" y="25202674"/>
            <a:ext cx="15120938" cy="29751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40300" y="3216417"/>
            <a:ext cx="15120938" cy="21603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40300" y="28177781"/>
            <a:ext cx="15120938" cy="42261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10B2E2-324D-65EE-D7BB-64AE543B67D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C37F3E-F6A0-4568-9A8F-58DDF23997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801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CA4CB3-B8A0-9CBC-6FCC-59BD4B5F703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E48F16-F32F-4B5B-8E7F-327D022228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265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8268951" y="425469"/>
            <a:ext cx="5668963" cy="36142618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60476" y="425469"/>
            <a:ext cx="16856075" cy="36142618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0680347-1E0F-4362-9CA5-E7F7D57294D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E830B-990F-4D0E-A102-79A5D99A8F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310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5170039C-08C0-AF2D-6D31-58741B72A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25450"/>
            <a:ext cx="22677438" cy="802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9920" tIns="174960" rIns="349920" bIns="17496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F610AD80-E152-1A11-FE35-C89A10987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8401050"/>
            <a:ext cx="22677438" cy="281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9920" tIns="174960" rIns="349920" bIns="1749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2º Nível da estrutura de tópicos</a:t>
            </a:r>
          </a:p>
          <a:p>
            <a:pPr lvl="2"/>
            <a:r>
              <a:rPr lang="en-GB" altLang="pt-BR"/>
              <a:t>3º Nível da estrutura de tópicos</a:t>
            </a:r>
          </a:p>
          <a:p>
            <a:pPr lvl="3"/>
            <a:r>
              <a:rPr lang="en-GB" altLang="pt-BR"/>
              <a:t>4º Nível da estrutura de tópicos</a:t>
            </a:r>
          </a:p>
          <a:p>
            <a:pPr lvl="4"/>
            <a:r>
              <a:rPr lang="en-GB" altLang="pt-BR"/>
              <a:t>5º Nível da estrutura de tópicos</a:t>
            </a:r>
          </a:p>
          <a:p>
            <a:pPr lvl="4"/>
            <a:r>
              <a:rPr lang="en-GB" altLang="pt-BR"/>
              <a:t>6º Nível da estrutura de tópicos</a:t>
            </a:r>
          </a:p>
          <a:p>
            <a:pPr lvl="4"/>
            <a:r>
              <a:rPr lang="en-GB" altLang="pt-BR"/>
              <a:t>7º Nível da estrutura de tópicos</a:t>
            </a:r>
          </a:p>
          <a:p>
            <a:pPr lvl="4"/>
            <a:r>
              <a:rPr lang="en-GB" altLang="pt-BR"/>
              <a:t>8º Nível da estrutura de tópicos</a:t>
            </a:r>
          </a:p>
          <a:p>
            <a:pPr lvl="4"/>
            <a:r>
              <a:rPr lang="en-GB" altLang="pt-BR"/>
              <a:t>9º Nível da estrutura de tópicos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3439AD9A-A187-206F-6902-A9633D8EC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33372425"/>
            <a:ext cx="587692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E1CF6BF8-1F2B-CC79-E6A2-CB52BD8BE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33372425"/>
            <a:ext cx="798195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C7E18CB-D6A5-478A-AC70-B2236C442B9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18062575" y="33372425"/>
            <a:ext cx="5875338" cy="1912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349920" tIns="174960" rIns="349920" bIns="174960" numCol="1" anchor="ctr" anchorCtr="0" compatLnSpc="1">
            <a:prstTxWarp prst="textNoShape">
              <a:avLst/>
            </a:prstTxWarp>
          </a:bodyPr>
          <a:lstStyle>
            <a:lvl1pPr eaLnBrk="1" hangingPunct="1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</a:defRPr>
            </a:lvl1pPr>
          </a:lstStyle>
          <a:p>
            <a:fld id="{A10018D5-6263-4755-A7AE-35D4531DC71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8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800">
          <a:solidFill>
            <a:srgbClr val="000000"/>
          </a:solidFill>
          <a:latin typeface="Calibri" pitchFamily="34" charset="0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800">
          <a:solidFill>
            <a:srgbClr val="000000"/>
          </a:solidFill>
          <a:latin typeface="Calibri" pitchFamily="34" charset="0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800">
          <a:solidFill>
            <a:srgbClr val="000000"/>
          </a:solidFill>
          <a:latin typeface="Calibri" pitchFamily="34" charset="0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800">
          <a:solidFill>
            <a:srgbClr val="000000"/>
          </a:solidFill>
          <a:latin typeface="Calibri" pitchFamily="34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16800">
          <a:solidFill>
            <a:srgbClr val="000000"/>
          </a:solidFill>
          <a:latin typeface="Calibri" pitchFamily="34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16800">
          <a:solidFill>
            <a:srgbClr val="000000"/>
          </a:solidFill>
          <a:latin typeface="Calibri" pitchFamily="34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16800">
          <a:solidFill>
            <a:srgbClr val="000000"/>
          </a:solidFill>
          <a:latin typeface="Calibri" pitchFamily="34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16800">
          <a:solidFill>
            <a:srgbClr val="000000"/>
          </a:solidFill>
          <a:latin typeface="Calibri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30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12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26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10700">
          <a:solidFill>
            <a:srgbClr val="000000"/>
          </a:solidFill>
          <a:latin typeface="+mn-lt"/>
        </a:defRPr>
      </a:lvl2pPr>
      <a:lvl3pPr marL="1143000" indent="-228600" algn="l" defTabSz="449263" rtl="0" eaLnBrk="0" fontAlgn="base" hangingPunct="0">
        <a:spcBef>
          <a:spcPts val="23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9200">
          <a:solidFill>
            <a:srgbClr val="000000"/>
          </a:solidFill>
          <a:latin typeface="+mn-lt"/>
        </a:defRPr>
      </a:lvl3pPr>
      <a:lvl4pPr marL="1600200" indent="-228600" algn="l" defTabSz="449263" rtl="0" eaLnBrk="0" fontAlgn="base" hangingPunct="0">
        <a:spcBef>
          <a:spcPts val="19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7700">
          <a:solidFill>
            <a:srgbClr val="000000"/>
          </a:solidFill>
          <a:latin typeface="+mn-lt"/>
        </a:defRPr>
      </a:lvl4pPr>
      <a:lvl5pPr marL="2057400" indent="-228600" algn="l" defTabSz="449263" rtl="0" eaLnBrk="0" fontAlgn="base" hangingPunct="0">
        <a:spcBef>
          <a:spcPts val="19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7700">
          <a:solidFill>
            <a:srgbClr val="000000"/>
          </a:solidFill>
          <a:latin typeface="+mn-lt"/>
        </a:defRPr>
      </a:lvl5pPr>
      <a:lvl6pPr marL="2514600" indent="-228600" algn="l" defTabSz="449263" rtl="0" eaLnBrk="0" fontAlgn="base" hangingPunct="0">
        <a:spcBef>
          <a:spcPts val="19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7700">
          <a:solidFill>
            <a:srgbClr val="000000"/>
          </a:solidFill>
          <a:latin typeface="+mn-lt"/>
        </a:defRPr>
      </a:lvl6pPr>
      <a:lvl7pPr marL="2971800" indent="-228600" algn="l" defTabSz="449263" rtl="0" eaLnBrk="0" fontAlgn="base" hangingPunct="0">
        <a:spcBef>
          <a:spcPts val="19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7700">
          <a:solidFill>
            <a:srgbClr val="000000"/>
          </a:solidFill>
          <a:latin typeface="+mn-lt"/>
        </a:defRPr>
      </a:lvl7pPr>
      <a:lvl8pPr marL="3429000" indent="-228600" algn="l" defTabSz="449263" rtl="0" eaLnBrk="0" fontAlgn="base" hangingPunct="0">
        <a:spcBef>
          <a:spcPts val="19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7700">
          <a:solidFill>
            <a:srgbClr val="000000"/>
          </a:solidFill>
          <a:latin typeface="+mn-lt"/>
        </a:defRPr>
      </a:lvl8pPr>
      <a:lvl9pPr marL="3886200" indent="-228600" algn="l" defTabSz="449263" rtl="0" eaLnBrk="0" fontAlgn="base" hangingPunct="0">
        <a:spcBef>
          <a:spcPts val="19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7700">
          <a:solidFill>
            <a:srgbClr val="000000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6.jpeg"/><Relationship Id="rId3" Type="http://schemas.openxmlformats.org/officeDocument/2006/relationships/hyperlink" Target="mailto:arthur.lima81@etec.sp.gov.br" TargetMode="External"/><Relationship Id="rId7" Type="http://schemas.openxmlformats.org/officeDocument/2006/relationships/hyperlink" Target="mailto:rodrigo.silva1401@etec.sp.gov.br" TargetMode="Externa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otavio.casadei@etec.sp.gov.br" TargetMode="External"/><Relationship Id="rId11" Type="http://schemas.openxmlformats.org/officeDocument/2006/relationships/image" Target="../media/image4.png"/><Relationship Id="rId5" Type="http://schemas.openxmlformats.org/officeDocument/2006/relationships/hyperlink" Target="mailto:juan.barbosa2@etec.sp.gov.br" TargetMode="External"/><Relationship Id="rId1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hyperlink" Target="mailto:giovanna.diogo@etec.sp.gov.br" TargetMode="External"/><Relationship Id="rId9" Type="http://schemas.openxmlformats.org/officeDocument/2006/relationships/image" Target="../media/image2.jpe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48FF9156-4230-4542-B4C9-80533B585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275" y="311150"/>
            <a:ext cx="17246600" cy="38496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81000" tIns="40680" rIns="81000" bIns="40680">
            <a:spAutoFit/>
          </a:bodyPr>
          <a:lstStyle/>
          <a:p>
            <a:pPr algn="ctr" eaLnBrk="1" hangingPunct="1">
              <a:spcBef>
                <a:spcPts val="3375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/>
            </a:pPr>
            <a:r>
              <a:rPr lang="pt-BR" sz="5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anose="020B0604020202020204" pitchFamily="34" charset="0"/>
              </a:rPr>
              <a:t>LAR</a:t>
            </a:r>
          </a:p>
          <a:p>
            <a:pPr algn="ctr" eaLnBrk="1" hangingPunct="1">
              <a:spcBef>
                <a:spcPts val="1475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/>
            </a:pPr>
            <a:r>
              <a:rPr lang="pt-BR" sz="3200" b="1" dirty="0">
                <a:solidFill>
                  <a:srgbClr val="000000"/>
                </a:solidFill>
                <a:cs typeface="Arial" panose="020B0604020202020204" pitchFamily="34" charset="0"/>
              </a:rPr>
              <a:t>LIMA, Arthur; BARBOSA, Juan; DIOGO, Giovanna; CASADEI, Otávio; SILVA, Rodrigo</a:t>
            </a:r>
          </a:p>
          <a:p>
            <a:pPr algn="ctr" eaLnBrk="1" hangingPunct="1">
              <a:spcBef>
                <a:spcPts val="1475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/>
            </a:pPr>
            <a:br>
              <a:rPr lang="pt-BR" sz="3600" b="1" baseline="300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pt-BR" sz="2600" b="1" i="1" dirty="0">
                <a:solidFill>
                  <a:srgbClr val="000000"/>
                </a:solidFill>
                <a:cs typeface="Arial" panose="020B0604020202020204" pitchFamily="34" charset="0"/>
              </a:rPr>
              <a:t>Habilitação Profissional de Técnico em Informática Integrado ao Ensino Médio– Etec Euro Albino de Souza</a:t>
            </a:r>
          </a:p>
          <a:p>
            <a:pPr algn="ctr" eaLnBrk="1" hangingPunct="1">
              <a:spcBef>
                <a:spcPts val="63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/>
            </a:pPr>
            <a:r>
              <a:rPr lang="pt-BR" sz="2700" i="1" dirty="0">
                <a:solidFill>
                  <a:srgbClr val="000000"/>
                </a:solidFill>
                <a:cs typeface="Arial" panose="020B0604020202020204" pitchFamily="34" charset="0"/>
              </a:rPr>
              <a:t>Rua Antônio Luís Filho, 350 – Jardim Novo II – Mogi Guaçu – SP – Brasil</a:t>
            </a:r>
            <a:br>
              <a:rPr lang="pt-BR" sz="28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  <a:hlinkClick r:id="rId3"/>
              </a:rPr>
              <a:t>arthur.lima81@etec.sp.gov.br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  <a:hlinkClick r:id="rId4"/>
              </a:rPr>
              <a:t>giovanna.diogo@etec.sp.gov.br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  <a:hlinkClick r:id="rId5"/>
              </a:rPr>
              <a:t>juan.barbosa2@etec.sp.gov.br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  <a:hlinkClick r:id="rId6"/>
              </a:rPr>
              <a:t>otavio.casadei@etec.sp.gov.br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  <a:hlinkClick r:id="rId7"/>
              </a:rPr>
              <a:t>rodrigo.silva1401@etec.sp.gov.br</a:t>
            </a:r>
            <a:r>
              <a:rPr 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3075" name="Line 3">
            <a:extLst>
              <a:ext uri="{FF2B5EF4-FFF2-40B4-BE49-F238E27FC236}">
                <a16:creationId xmlns:a16="http://schemas.microsoft.com/office/drawing/2014/main" id="{04C10DC9-1D4E-8FB3-A9A6-53E5C4FA2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03163" y="5156200"/>
            <a:ext cx="42862" cy="28092400"/>
          </a:xfrm>
          <a:prstGeom prst="line">
            <a:avLst/>
          </a:prstGeom>
          <a:noFill/>
          <a:ln w="31680">
            <a:solidFill>
              <a:srgbClr val="7F7F7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3" name="Text Box 4">
            <a:extLst>
              <a:ext uri="{FF2B5EF4-FFF2-40B4-BE49-F238E27FC236}">
                <a16:creationId xmlns:a16="http://schemas.microsoft.com/office/drawing/2014/main" id="{7D1C867D-B380-44A5-BE95-6FEFCD394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5472113"/>
            <a:ext cx="7832725" cy="573087"/>
          </a:xfrm>
          <a:prstGeom prst="rect">
            <a:avLst/>
          </a:prstGeom>
          <a:noFill/>
          <a:ln>
            <a:noFill/>
          </a:ln>
        </p:spPr>
        <p:txBody>
          <a:bodyPr lIns="78840" tIns="39600" rIns="78840" bIns="3960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  <a:buSzPct val="100000"/>
              <a:buFont typeface="Times New Roman" panose="02020603050405020304" pitchFamily="18" charset="0"/>
              <a:buNone/>
              <a:defRPr/>
            </a:pPr>
            <a:r>
              <a:rPr lang="pt-BR" altLang="pt-BR" sz="3200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1. Introdução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9A02DE7-7A7B-0C7B-F6CB-7ACE386EA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6119813"/>
            <a:ext cx="11601450" cy="714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30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12200">
                <a:solidFill>
                  <a:srgbClr val="000000"/>
                </a:solidFill>
                <a:latin typeface="Calibri" panose="020F0502020204030204" pitchFamily="34" charset="0"/>
              </a:defRPr>
            </a:lvl1pPr>
            <a:lvl2pPr>
              <a:spcBef>
                <a:spcPts val="26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10700">
                <a:solidFill>
                  <a:srgbClr val="000000"/>
                </a:solidFill>
                <a:latin typeface="Calibri" panose="020F0502020204030204" pitchFamily="34" charset="0"/>
              </a:defRPr>
            </a:lvl2pPr>
            <a:lvl3pPr>
              <a:spcBef>
                <a:spcPts val="2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9200">
                <a:solidFill>
                  <a:srgbClr val="000000"/>
                </a:solidFill>
                <a:latin typeface="Calibri" panose="020F0502020204030204" pitchFamily="34" charset="0"/>
              </a:defRPr>
            </a:lvl3pPr>
            <a:lvl4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4pPr>
            <a:lvl5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r>
              <a:rPr lang="pt-BR" altLang="pt-BR" sz="280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 typeface="Times New Roman" panose="02020603050405020304" pitchFamily="18" charset="0"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0EE1DBF-9B99-DBE1-DC31-D19E4CCF8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" y="14073188"/>
            <a:ext cx="11601450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ts val="30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12200">
                <a:solidFill>
                  <a:srgbClr val="000000"/>
                </a:solidFill>
                <a:latin typeface="Calibri" panose="020F0502020204030204" pitchFamily="34" charset="0"/>
              </a:defRPr>
            </a:lvl1pPr>
            <a:lvl2pPr>
              <a:spcBef>
                <a:spcPts val="26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10700">
                <a:solidFill>
                  <a:srgbClr val="000000"/>
                </a:solidFill>
                <a:latin typeface="Calibri" panose="020F0502020204030204" pitchFamily="34" charset="0"/>
              </a:defRPr>
            </a:lvl2pPr>
            <a:lvl3pPr>
              <a:spcBef>
                <a:spcPts val="2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9200">
                <a:solidFill>
                  <a:srgbClr val="000000"/>
                </a:solidFill>
                <a:latin typeface="Calibri" panose="020F0502020204030204" pitchFamily="34" charset="0"/>
              </a:defRPr>
            </a:lvl3pPr>
            <a:lvl4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4pPr>
            <a:lvl5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6" name="Text Box 7">
            <a:extLst>
              <a:ext uri="{FF2B5EF4-FFF2-40B4-BE49-F238E27FC236}">
                <a16:creationId xmlns:a16="http://schemas.microsoft.com/office/drawing/2014/main" id="{2995DFA9-858E-48CB-979C-6B783D16A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15870238"/>
            <a:ext cx="7832725" cy="573087"/>
          </a:xfrm>
          <a:prstGeom prst="rect">
            <a:avLst/>
          </a:prstGeom>
          <a:noFill/>
          <a:ln>
            <a:noFill/>
          </a:ln>
        </p:spPr>
        <p:txBody>
          <a:bodyPr lIns="78840" tIns="39600" rIns="78840" bIns="3960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  <a:buSzPct val="100000"/>
              <a:buFont typeface="Times New Roman" panose="02020603050405020304" pitchFamily="18" charset="0"/>
              <a:buNone/>
              <a:defRPr/>
            </a:pPr>
            <a:r>
              <a:rPr lang="pt-BR" altLang="pt-BR" sz="3200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2. Objetivos</a:t>
            </a:r>
          </a:p>
        </p:txBody>
      </p:sp>
      <p:sp>
        <p:nvSpPr>
          <p:cNvPr id="2059" name="Text Box 10">
            <a:extLst>
              <a:ext uri="{FF2B5EF4-FFF2-40B4-BE49-F238E27FC236}">
                <a16:creationId xmlns:a16="http://schemas.microsoft.com/office/drawing/2014/main" id="{730431F8-91DC-43CE-AB57-4F443F535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7038" y="24018875"/>
            <a:ext cx="7832725" cy="573088"/>
          </a:xfrm>
          <a:prstGeom prst="rect">
            <a:avLst/>
          </a:prstGeom>
          <a:noFill/>
          <a:ln>
            <a:noFill/>
          </a:ln>
        </p:spPr>
        <p:txBody>
          <a:bodyPr lIns="78840" tIns="39600" rIns="78840" bIns="3960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  <a:buSzPct val="100000"/>
              <a:defRPr/>
            </a:pPr>
            <a:r>
              <a:rPr lang="pt-BR" altLang="pt-BR" sz="3200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6. Referências</a:t>
            </a:r>
          </a:p>
        </p:txBody>
      </p:sp>
      <p:sp>
        <p:nvSpPr>
          <p:cNvPr id="3081" name="Rectangle 21">
            <a:extLst>
              <a:ext uri="{FF2B5EF4-FFF2-40B4-BE49-F238E27FC236}">
                <a16:creationId xmlns:a16="http://schemas.microsoft.com/office/drawing/2014/main" id="{7447377D-A001-2D72-0E7C-E20673372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13" y="4800600"/>
            <a:ext cx="23039387" cy="198438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100000">
                <a:srgbClr val="0070C0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cs typeface="Arial" panose="020B0604020202020204" pitchFamily="34" charset="0"/>
            </a:endParaRPr>
          </a:p>
        </p:txBody>
      </p:sp>
      <p:sp>
        <p:nvSpPr>
          <p:cNvPr id="3082" name="Rectangle 23">
            <a:extLst>
              <a:ext uri="{FF2B5EF4-FFF2-40B4-BE49-F238E27FC236}">
                <a16:creationId xmlns:a16="http://schemas.microsoft.com/office/drawing/2014/main" id="{53BDA6B8-76EB-535C-0F1A-A7F18087A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" y="17184688"/>
            <a:ext cx="11601450" cy="515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30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12200">
                <a:solidFill>
                  <a:srgbClr val="000000"/>
                </a:solidFill>
                <a:latin typeface="Calibri" panose="020F0502020204030204" pitchFamily="34" charset="0"/>
              </a:defRPr>
            </a:lvl1pPr>
            <a:lvl2pPr>
              <a:spcBef>
                <a:spcPts val="26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10700">
                <a:solidFill>
                  <a:srgbClr val="000000"/>
                </a:solidFill>
                <a:latin typeface="Calibri" panose="020F0502020204030204" pitchFamily="34" charset="0"/>
              </a:defRPr>
            </a:lvl2pPr>
            <a:lvl3pPr>
              <a:spcBef>
                <a:spcPts val="2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9200">
                <a:solidFill>
                  <a:srgbClr val="000000"/>
                </a:solidFill>
                <a:latin typeface="Calibri" panose="020F0502020204030204" pitchFamily="34" charset="0"/>
              </a:defRPr>
            </a:lvl3pPr>
            <a:lvl4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4pPr>
            <a:lvl5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r>
              <a:rPr lang="pt-BR" altLang="pt-BR" sz="28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1750"/>
              </a:spcAft>
              <a:buClrTx/>
              <a:buFontTx/>
              <a:buNone/>
            </a:pPr>
            <a:endParaRPr lang="pt-BR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7" name="Text Box 24">
            <a:extLst>
              <a:ext uri="{FF2B5EF4-FFF2-40B4-BE49-F238E27FC236}">
                <a16:creationId xmlns:a16="http://schemas.microsoft.com/office/drawing/2014/main" id="{C0431AFD-9E78-4B9F-8FB0-4A5798AA8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24874538"/>
            <a:ext cx="7832725" cy="573087"/>
          </a:xfrm>
          <a:prstGeom prst="rect">
            <a:avLst/>
          </a:prstGeom>
          <a:noFill/>
          <a:ln>
            <a:noFill/>
          </a:ln>
        </p:spPr>
        <p:txBody>
          <a:bodyPr lIns="78840" tIns="39600" rIns="78840" bIns="3960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  <a:buSzPct val="100000"/>
              <a:buFont typeface="Times New Roman" panose="02020603050405020304" pitchFamily="18" charset="0"/>
              <a:buNone/>
              <a:defRPr/>
            </a:pPr>
            <a:r>
              <a:rPr lang="pt-BR" altLang="pt-BR" sz="3200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3. Procedimentos Metodológicos</a:t>
            </a:r>
          </a:p>
        </p:txBody>
      </p:sp>
      <p:sp>
        <p:nvSpPr>
          <p:cNvPr id="2068" name="Text Box 27">
            <a:extLst>
              <a:ext uri="{FF2B5EF4-FFF2-40B4-BE49-F238E27FC236}">
                <a16:creationId xmlns:a16="http://schemas.microsoft.com/office/drawing/2014/main" id="{5CDF0919-F110-4DC5-9112-10BB1B835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1938" y="5546725"/>
            <a:ext cx="9648825" cy="573088"/>
          </a:xfrm>
          <a:prstGeom prst="rect">
            <a:avLst/>
          </a:prstGeom>
          <a:noFill/>
          <a:ln>
            <a:noFill/>
          </a:ln>
        </p:spPr>
        <p:txBody>
          <a:bodyPr lIns="78840" tIns="39600" rIns="78840" bIns="3960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69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  <a:buSzPct val="100000"/>
              <a:buFont typeface="Times New Roman" panose="02020603050405020304" pitchFamily="18" charset="0"/>
              <a:buNone/>
              <a:defRPr/>
            </a:pPr>
            <a:r>
              <a:rPr lang="pt-BR" altLang="pt-BR" sz="3200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4. Resultados</a:t>
            </a:r>
          </a:p>
        </p:txBody>
      </p:sp>
      <p:sp>
        <p:nvSpPr>
          <p:cNvPr id="3085" name="Rectangle 29">
            <a:extLst>
              <a:ext uri="{FF2B5EF4-FFF2-40B4-BE49-F238E27FC236}">
                <a16:creationId xmlns:a16="http://schemas.microsoft.com/office/drawing/2014/main" id="{B422E764-9699-1F48-9085-0F0E1E5E3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34648775"/>
            <a:ext cx="23039388" cy="198438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100000">
                <a:srgbClr val="0070C0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cs typeface="Arial" panose="020B0604020202020204" pitchFamily="34" charset="0"/>
            </a:endParaRPr>
          </a:p>
        </p:txBody>
      </p:sp>
      <p:sp>
        <p:nvSpPr>
          <p:cNvPr id="3086" name="Text Box 31">
            <a:extLst>
              <a:ext uri="{FF2B5EF4-FFF2-40B4-BE49-F238E27FC236}">
                <a16:creationId xmlns:a16="http://schemas.microsoft.com/office/drawing/2014/main" id="{F41FD736-81AC-ACBA-84DB-0DBADD6FF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2951738"/>
            <a:ext cx="17430750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30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12200">
                <a:solidFill>
                  <a:srgbClr val="000000"/>
                </a:solidFill>
                <a:latin typeface="Calibri" panose="020F0502020204030204" pitchFamily="34" charset="0"/>
              </a:defRPr>
            </a:lvl1pPr>
            <a:lvl2pPr>
              <a:spcBef>
                <a:spcPts val="26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10700">
                <a:solidFill>
                  <a:srgbClr val="000000"/>
                </a:solidFill>
                <a:latin typeface="Calibri" panose="020F0502020204030204" pitchFamily="34" charset="0"/>
              </a:defRPr>
            </a:lvl2pPr>
            <a:lvl3pPr>
              <a:spcBef>
                <a:spcPts val="2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9200">
                <a:solidFill>
                  <a:srgbClr val="000000"/>
                </a:solidFill>
                <a:latin typeface="Calibri" panose="020F0502020204030204" pitchFamily="34" charset="0"/>
              </a:defRPr>
            </a:lvl3pPr>
            <a:lvl4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4pPr>
            <a:lvl5pPr>
              <a:spcBef>
                <a:spcPts val="19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ts val="19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7700">
                <a:solidFill>
                  <a:srgbClr val="000000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pt-BR" altLang="pt-BR" sz="7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Apresentação de Desenvolvimento de Trabalho de Conclusão de Curso</a:t>
            </a:r>
          </a:p>
          <a:p>
            <a:pPr algn="ctr" eaLnBrk="1" hangingPunct="1">
              <a:spcBef>
                <a:spcPts val="1700"/>
              </a:spcBef>
              <a:buClrTx/>
              <a:buFontTx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Dezembro / 2023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pt-BR" altLang="pt-BR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87" name="Imagem 1">
            <a:extLst>
              <a:ext uri="{FF2B5EF4-FFF2-40B4-BE49-F238E27FC236}">
                <a16:creationId xmlns:a16="http://schemas.microsoft.com/office/drawing/2014/main" id="{3F483E8C-FC4D-A531-5A6D-E2C472A302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8238" y="814388"/>
            <a:ext cx="323532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8" name="Imagem 2">
            <a:extLst>
              <a:ext uri="{FF2B5EF4-FFF2-40B4-BE49-F238E27FC236}">
                <a16:creationId xmlns:a16="http://schemas.microsoft.com/office/drawing/2014/main" id="{91508E31-E395-57BF-23A8-230A21FA2C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71"/>
          <a:stretch>
            <a:fillRect/>
          </a:stretch>
        </p:blipFill>
        <p:spPr bwMode="auto">
          <a:xfrm>
            <a:off x="523875" y="3708400"/>
            <a:ext cx="21336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9" name="Imagem 33">
            <a:extLst>
              <a:ext uri="{FF2B5EF4-FFF2-40B4-BE49-F238E27FC236}">
                <a16:creationId xmlns:a16="http://schemas.microsoft.com/office/drawing/2014/main" id="{575CD625-7753-D8AF-1E19-9FB044CBBB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71"/>
          <a:stretch>
            <a:fillRect/>
          </a:stretch>
        </p:blipFill>
        <p:spPr bwMode="auto">
          <a:xfrm>
            <a:off x="523875" y="33556575"/>
            <a:ext cx="21336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0" name="Picture 77" descr="logo-novo-cps-cor">
            <a:extLst>
              <a:ext uri="{FF2B5EF4-FFF2-40B4-BE49-F238E27FC236}">
                <a16:creationId xmlns:a16="http://schemas.microsoft.com/office/drawing/2014/main" id="{0E9A9BB8-49B9-092B-74DA-B067705EA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84"/>
          <a:stretch>
            <a:fillRect/>
          </a:stretch>
        </p:blipFill>
        <p:spPr bwMode="auto">
          <a:xfrm>
            <a:off x="325438" y="993775"/>
            <a:ext cx="338772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1" name="CaixaDeTexto 5">
            <a:extLst>
              <a:ext uri="{FF2B5EF4-FFF2-40B4-BE49-F238E27FC236}">
                <a16:creationId xmlns:a16="http://schemas.microsoft.com/office/drawing/2014/main" id="{BAA606AB-41F6-A435-1F49-DABD1AF55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32383413"/>
            <a:ext cx="6445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3200">
                <a:solidFill>
                  <a:schemeClr val="tx1"/>
                </a:solidFill>
              </a:rPr>
              <a:t>Fonte: AUTORIA PRÓPRIA - 2020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BA74D37-BAAC-42CD-B701-40A198FDCE91}"/>
              </a:ext>
            </a:extLst>
          </p:cNvPr>
          <p:cNvSpPr txBox="1"/>
          <p:nvPr/>
        </p:nvSpPr>
        <p:spPr>
          <a:xfrm>
            <a:off x="531813" y="7500938"/>
            <a:ext cx="11455400" cy="2170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Um ambiente domiciliar organizado fornece inúmeros benefícios, tanto para a saúde física quanto para a saúde mental e produtividade diária. Este tópico vem ganhando espaço de discussão com o surgimento de novas pesquisas que mostram como a nossa casa reflete nosso estado psicológico.</a:t>
            </a:r>
            <a:r>
              <a:rPr lang="pt-BR" sz="1400" dirty="0"/>
              <a:t> reflete nosso estado psicológico.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1F3D881-41CA-4150-8957-66B5D0785B45}"/>
              </a:ext>
            </a:extLst>
          </p:cNvPr>
          <p:cNvSpPr txBox="1"/>
          <p:nvPr/>
        </p:nvSpPr>
        <p:spPr>
          <a:xfrm>
            <a:off x="531813" y="9823450"/>
            <a:ext cx="11455400" cy="300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Ainda que saibamos disso, manter uma casa e uma vida organizada pode ser especialmente difícil nos dias de hoje, quando somos bombardeados por informações e coisas que exigem nossa atenção imediata. Pensando nisso é que surgiu a ideia do “Lar”, uma aplicação que busca uma forma mais dinâmica e visual de lidar com os afazeres da vida diária, de modo a promover a saúde enquanto atende as necessidades e dificuldades de seus usuários. </a:t>
            </a:r>
            <a:r>
              <a:rPr lang="pt-BR" sz="2700" dirty="0"/>
              <a:t>estado </a:t>
            </a:r>
            <a:r>
              <a:rPr lang="pt-BR" sz="1400" dirty="0"/>
              <a:t>psicológico.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8094D1-2835-428C-9230-70F73817387F}"/>
              </a:ext>
            </a:extLst>
          </p:cNvPr>
          <p:cNvSpPr txBox="1"/>
          <p:nvPr/>
        </p:nvSpPr>
        <p:spPr>
          <a:xfrm>
            <a:off x="782638" y="25523825"/>
            <a:ext cx="10880725" cy="46624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 principais ferramentas e tecnologias utilizadas no projeto foram: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pt-BR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Linguagem de Marcação HTML (Hypertext Markup 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Language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Estilização com o framework 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Bootstrap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CSS (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Cascading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Style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Sheets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nativo;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Front-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End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Requisições em 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JavaScript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Back-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End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em PHP (Hypertext 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Preprocessor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Banco de dados relacional MySQL;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Desenvolvimento no editor de texto Visual Studio 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Code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Arquitetura de Software no padrão MVC (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ModelView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</a:t>
            </a:r>
            <a:r>
              <a:rPr lang="pt-BR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Controller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pt-BR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E37306B-ACFD-4ECF-A05C-1B90A893FB9B}"/>
              </a:ext>
            </a:extLst>
          </p:cNvPr>
          <p:cNvSpPr txBox="1"/>
          <p:nvPr/>
        </p:nvSpPr>
        <p:spPr>
          <a:xfrm>
            <a:off x="490538" y="17740313"/>
            <a:ext cx="11334750" cy="5078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Avaliar as principais dificuldades enfrentadas pelas pessoas para manter a casa em ordem e propor uma solução tecnológica inovadora;</a:t>
            </a:r>
          </a:p>
          <a:p>
            <a:pPr algn="just">
              <a:defRPr/>
            </a:pPr>
            <a:endParaRPr lang="pt-BR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Montar um diagrama bidimensional vertical do interior da residência de intuitiva interação;</a:t>
            </a:r>
          </a:p>
          <a:p>
            <a:pPr algn="just">
              <a:defRPr/>
            </a:pPr>
            <a:endParaRPr lang="pt-BR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Propiciar maior eficiência na realização de tarefas por meio de uma metodologia que associa tarefas à cômodos e móveis de forma visual.</a:t>
            </a:r>
          </a:p>
          <a:p>
            <a:pPr algn="just">
              <a:defRPr/>
            </a:pPr>
            <a:endParaRPr lang="pt-BR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Aumentar a produtividade e satisfação do usuário em organizar o domicílio.</a:t>
            </a:r>
          </a:p>
        </p:txBody>
      </p:sp>
      <p:pic>
        <p:nvPicPr>
          <p:cNvPr id="3096" name="Picture 23" descr="Uma imagem contendo Linha do tempo&#10;&#10;Descrição gerada automaticamente">
            <a:extLst>
              <a:ext uri="{FF2B5EF4-FFF2-40B4-BE49-F238E27FC236}">
                <a16:creationId xmlns:a16="http://schemas.microsoft.com/office/drawing/2014/main" id="{4D2F7573-7AF7-AA83-1B50-4B30B3C83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0" y="10158413"/>
            <a:ext cx="5076825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7" name="Picture 25" descr="https://lh7-us.googleusercontent.com/JTXVCQC_KnnezdISOyFqI5VDR3f5kU05DtVsj2Db4OztSzI17f9IecTGXcVs9no24NWdModg1A_UvLyzO5T81s2wPCPbWkDTwFz513di4_gyxicnVFV2ne8L3fjbjswbKOErZ3zkDRUbnaOryb27dA">
            <a:extLst>
              <a:ext uri="{FF2B5EF4-FFF2-40B4-BE49-F238E27FC236}">
                <a16:creationId xmlns:a16="http://schemas.microsoft.com/office/drawing/2014/main" id="{D325BECE-030B-D30A-9C92-9BF07FD8A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263" y="10029825"/>
            <a:ext cx="5762625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8" name="Picture 27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F1664B42-9E58-B7FB-6D23-4CA71C072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700" y="14770100"/>
            <a:ext cx="6632575" cy="359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9" name="Picture 31" descr="https://lh7-us.googleusercontent.com/2ObkQPRwtSabMaegleqd_XmOnMWOYSSo5XwM64e49wRWQYoFcqwF0NUqjFA-hrwYI9BHxeCJYhTfNTAwkpndNFpeNIyuYFIfhjYWro-VIrWL6W2UlDrUKUKOSd4StrCsjI7fLSNZD73xIspyBo1QYw">
            <a:extLst>
              <a:ext uri="{FF2B5EF4-FFF2-40B4-BE49-F238E27FC236}">
                <a16:creationId xmlns:a16="http://schemas.microsoft.com/office/drawing/2014/main" id="{F7CC7DCE-6856-6C7A-D4F6-D64190E86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2100" y="15016163"/>
            <a:ext cx="549592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3F26A90-4BB6-4875-B453-41F5ED923365}"/>
              </a:ext>
            </a:extLst>
          </p:cNvPr>
          <p:cNvSpPr/>
          <p:nvPr/>
        </p:nvSpPr>
        <p:spPr>
          <a:xfrm>
            <a:off x="13127038" y="18381663"/>
            <a:ext cx="11333162" cy="54943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Este trabalho teve como objetivo a criação de uma aplicação web diferenciada para a organização da residência, enaltecendo os benefícios de uma casa organizada para a saúde física e emocional e os malefícios de sua desordem com pesquisas e dados estatísticos. O trabalho teve como foco principal a elaboração de um ambiente lúdico e de fácil utilização, que busca incentivar o usuário a executar as tarefas necessárias e alcançar plena satisfação.</a:t>
            </a:r>
          </a:p>
          <a:p>
            <a:pPr algn="just">
              <a:defRPr/>
            </a:pPr>
            <a:endParaRPr lang="pt-BR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Os objetivos definidos foram em sua maioria alcançados, no entanto a equipe considera necessárias algumas atualizações técnicas e de interface, para garantir que a aplicação seja intuitiva e funcione da melhor forma possível. Além disso, vê como importante a criação futura de uma versão mobile para máxima eficiência do método estudado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3357F04-F7E0-493C-89F0-80F34AC72B41}"/>
              </a:ext>
            </a:extLst>
          </p:cNvPr>
          <p:cNvSpPr/>
          <p:nvPr/>
        </p:nvSpPr>
        <p:spPr>
          <a:xfrm>
            <a:off x="12990513" y="24690388"/>
            <a:ext cx="11703050" cy="89566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SAXBE; REPETT, 2010.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SageJournals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 Place Like Home: Home Tours Correlate With Daily Patterns of Mood and Cortisol.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Disponível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https://journals.sagepub.com/doi/abs/10.1177/0146167209352864.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Acesso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25/03/2023</a:t>
            </a:r>
          </a:p>
          <a:p>
            <a:pPr algn="just"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UOL. Como uma casa bagunçada pode prejudicar sua saúde emocional. Disponível em: https://www.uol.com.br/universa/noticias/</a:t>
            </a:r>
            <a:r>
              <a:rPr lang="pt-B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redacao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/2018/09/21/como-uma-casa-baguncada-pode-prejudicar-sua-saude-emocional.htm. Acesso em: 24/03/2023.</a:t>
            </a:r>
          </a:p>
          <a:p>
            <a:pPr algn="just">
              <a:defRPr/>
            </a:pP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GAZETA. Casa arrumada: novos estudos mostram que faxina faz bem para a saúde. Disponível em: https://www.agazeta.com.br/</a:t>
            </a:r>
            <a:r>
              <a:rPr lang="pt-B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revista-ag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/vida/casa-arrumada-novos-estudos-mostram-que-faxina-faz-bem-para-a-saude-1021. Acesso em: 25/03/2023</a:t>
            </a:r>
          </a:p>
          <a:p>
            <a:pPr algn="just">
              <a:defRPr/>
            </a:pP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VITACON. Por que o ambiente externo revela a sua organização interna? Disponível em: https://siteantigo.vitacon.com.br/blog/por-que-o-ambiente-externo-revela-a-sua-</a:t>
            </a:r>
            <a:r>
              <a:rPr lang="pt-B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organizacao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-interna/459/. Acesso em: 25/03/2023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COODESH. O que é arquitetura MVC? Disponível em: https://coodesh.com/blog/</a:t>
            </a:r>
            <a:r>
              <a:rPr lang="pt-B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dicionario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/o-que-e-arquitetura-</a:t>
            </a:r>
            <a:r>
              <a:rPr lang="pt-B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mvc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/. Acesso em: 05/04/2023</a:t>
            </a:r>
          </a:p>
          <a:p>
            <a:pPr algn="just">
              <a:defRPr/>
            </a:pP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ALURA. </a:t>
            </a:r>
            <a:r>
              <a:rPr lang="pt-B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Bootstrap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o que é, como usar, documentação e exemplos. Disponível em: https://www.alura.com.br/artigos/</a:t>
            </a:r>
            <a:r>
              <a:rPr lang="pt-B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bootstrap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Acesso em: 05/04/202</a:t>
            </a:r>
          </a:p>
        </p:txBody>
      </p:sp>
      <p:pic>
        <p:nvPicPr>
          <p:cNvPr id="3102" name="Imagem 60">
            <a:extLst>
              <a:ext uri="{FF2B5EF4-FFF2-40B4-BE49-F238E27FC236}">
                <a16:creationId xmlns:a16="http://schemas.microsoft.com/office/drawing/2014/main" id="{9C5C8B2B-9484-99CD-EACC-29CA6D14B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788" y="6148388"/>
            <a:ext cx="2962275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tângulo 30">
            <a:extLst>
              <a:ext uri="{FF2B5EF4-FFF2-40B4-BE49-F238E27FC236}">
                <a16:creationId xmlns:a16="http://schemas.microsoft.com/office/drawing/2014/main" id="{BEB88F3D-8DF0-4EE4-8364-C5ABE393A9F6}"/>
              </a:ext>
            </a:extLst>
          </p:cNvPr>
          <p:cNvSpPr/>
          <p:nvPr/>
        </p:nvSpPr>
        <p:spPr>
          <a:xfrm>
            <a:off x="13171488" y="6399213"/>
            <a:ext cx="11333162" cy="3416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Foram criados com sucesso um diagrama interativo, que permite a montagem da casa com seus principais cômodos e móveis, e um sistema lista de tarefas semelhante aos tradicionais, porém incrementado com a possibilidade de associar os afazeres à mobília da residência.</a:t>
            </a:r>
          </a:p>
          <a:p>
            <a:pPr algn="just"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visual receptivo também foi alcançado por meio da elaboração de um design cuidadosamente pensado e que, alinhado às demais funcionalidades da aplicação, a torna confortável e familiar ao usuário.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FB92BB7-40E3-4777-AB23-0E1FF0A4B10E}"/>
              </a:ext>
            </a:extLst>
          </p:cNvPr>
          <p:cNvSpPr txBox="1"/>
          <p:nvPr/>
        </p:nvSpPr>
        <p:spPr>
          <a:xfrm>
            <a:off x="782638" y="16583025"/>
            <a:ext cx="10909300" cy="922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Diante da problemática exposta e da proposta de solução, os seguintes objetivos foram definidos para o projeto: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trutura padrão">
  <a:themeElements>
    <a:clrScheme name="Estrutura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3D5CA41B84E194EB0B38A2609F47E4E" ma:contentTypeVersion="6" ma:contentTypeDescription="Crie um novo documento." ma:contentTypeScope="" ma:versionID="7993793f536ad56b83d4f1cd748a1083">
  <xsd:schema xmlns:xsd="http://www.w3.org/2001/XMLSchema" xmlns:xs="http://www.w3.org/2001/XMLSchema" xmlns:p="http://schemas.microsoft.com/office/2006/metadata/properties" xmlns:ns2="fed86de2-c65f-4c9f-a57e-448628fe9aae" targetNamespace="http://schemas.microsoft.com/office/2006/metadata/properties" ma:root="true" ma:fieldsID="f8d9018ae3b65fdae91d22dfcb9147bd" ns2:_="">
    <xsd:import namespace="fed86de2-c65f-4c9f-a57e-448628fe9a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86de2-c65f-4c9f-a57e-448628fe9a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1AA52E-7F71-47DF-91AD-3F65320C52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6D1BB9-BA17-4C7A-85C3-FF833F476F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d86de2-c65f-4c9f-a57e-448628fe9a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18DE52-093C-4461-8B64-16F6590CA1E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882</Words>
  <Application>Microsoft Office PowerPoint</Application>
  <PresentationFormat>Personalizar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Estrutura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Poster_TCC</dc:title>
  <dc:creator>User</dc:creator>
  <cp:lastModifiedBy>Rodrigo Polastro</cp:lastModifiedBy>
  <cp:revision>62</cp:revision>
  <cp:lastPrinted>1601-01-01T00:00:00Z</cp:lastPrinted>
  <dcterms:created xsi:type="dcterms:W3CDTF">1601-01-01T00:00:00Z</dcterms:created>
  <dcterms:modified xsi:type="dcterms:W3CDTF">2025-01-31T15:45:44Z</dcterms:modified>
</cp:coreProperties>
</file>